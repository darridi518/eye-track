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79" r:id="rId3"/>
    <p:sldId id="281" r:id="rId4"/>
    <p:sldId id="280" r:id="rId5"/>
    <p:sldId id="282" r:id="rId6"/>
    <p:sldId id="285" r:id="rId7"/>
    <p:sldId id="286" r:id="rId8"/>
    <p:sldId id="287" r:id="rId9"/>
    <p:sldId id="283" r:id="rId10"/>
    <p:sldId id="284" r:id="rId11"/>
    <p:sldId id="27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2838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Причины ДТП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94C-4388-904E-50D3C33CA91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4C-4388-904E-50D3C33CA911}"/>
              </c:ext>
            </c:extLst>
          </c:dPt>
          <c:cat>
            <c:strRef>
              <c:f>Лист1!$A$2:$A$5</c:f>
              <c:strCache>
                <c:ptCount val="4"/>
                <c:pt idx="0">
                  <c:v>Несоблюдение скоростного режима</c:v>
                </c:pt>
                <c:pt idx="1">
                  <c:v>Несоблюдение ПДД</c:v>
                </c:pt>
                <c:pt idx="2">
                  <c:v>Водитель уснул за рулем</c:v>
                </c:pt>
                <c:pt idx="3">
                  <c:v>Вождение в нетрезвом состоянии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25</c:v>
                </c:pt>
                <c:pt idx="1">
                  <c:v>40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4C-4388-904E-50D3C33CA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Компании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Лист1!$A$2:$A$4</c:f>
              <c:strCache>
                <c:ptCount val="3"/>
                <c:pt idx="0">
                  <c:v>КамАЗ</c:v>
                </c:pt>
                <c:pt idx="1">
                  <c:v>АвтоВАЗ</c:v>
                </c:pt>
                <c:pt idx="2">
                  <c:v>Китайские бренды, собираемые в РФ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A-4F2E-99DE-D158AEA16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>
              <a:lumMod val="95000"/>
              <a:lumOff val="5000"/>
            </a:schemeClr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A6ED9-6287-40F6-97AF-765141D23A87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E3356-A56C-49AD-9EB6-12DCA5113C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5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i="0" dirty="0">
                <a:effectLst/>
                <a:latin typeface="Comic Sans MS" panose="030F0702030302020204" pitchFamily="66" charset="0"/>
              </a:rPr>
              <a:t>Отсутствие торможения: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 В 80% таких аварий машина вообще не пытается тормознуть перед ударом. Спидометр в момент столкновения показывает скорость движения, а не результат экстренного торможения.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i="0" dirty="0">
                <a:effectLst/>
                <a:latin typeface="Comic Sans MS" panose="030F0702030302020204" pitchFamily="66" charset="0"/>
              </a:rPr>
              <a:t>Тотальная потеря контроля: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 Водитель не поворачивает руль, не сигналит, не уходит от препятствия. Автомобиль движется по инерции как «снаряд».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i="0" dirty="0">
                <a:effectLst/>
                <a:latin typeface="Comic Sans MS" panose="030F0702030302020204" pitchFamily="66" charset="0"/>
              </a:rPr>
              <a:t>Высокая скорость в момент удара: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 Человек засыпает чаще всего на трассе (монотонная дорога, скорость 90–120 км/ч). Удар происходит на этой высокой скорости.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E3356-A56C-49AD-9EB6-12DCA5113C9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60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27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224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48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05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4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5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605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6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94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28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220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018D6-5847-4FE5-BA3E-337EAA94C9EA}" type="datetimeFigureOut">
              <a:rPr lang="ru-RU" smtClean="0"/>
              <a:t>01.05.2026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8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30938C7-8134-458D-A4EE-3AA87AD93E06}"/>
              </a:ext>
            </a:extLst>
          </p:cNvPr>
          <p:cNvSpPr/>
          <p:nvPr/>
        </p:nvSpPr>
        <p:spPr>
          <a:xfrm>
            <a:off x="6699" y="6326499"/>
            <a:ext cx="3606100" cy="40011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Eye-Tracker</a:t>
            </a:r>
            <a:endParaRPr lang="ru-RU" dirty="0">
              <a:latin typeface="Comic Sans MS" panose="030F0702030302020204" pitchFamily="66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8E251996-0168-4281-BA35-94C52E9AEFC7}"/>
              </a:ext>
            </a:extLst>
          </p:cNvPr>
          <p:cNvSpPr txBox="1">
            <a:spLocks/>
          </p:cNvSpPr>
          <p:nvPr/>
        </p:nvSpPr>
        <p:spPr>
          <a:xfrm>
            <a:off x="-67564" y="6361481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omic Sans MS" panose="030F0702030302020204" pitchFamily="66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Автор: Печерин Егор ИИ-71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080ABB-DCDA-475C-A374-246F389B47AA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2D069A-98B7-4E6A-96A2-378C08AF94FF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16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B21AE4AF-8D2A-43FA-9FB5-D69FDE27910D}"/>
              </a:ext>
            </a:extLst>
          </p:cNvPr>
          <p:cNvSpPr/>
          <p:nvPr/>
        </p:nvSpPr>
        <p:spPr>
          <a:xfrm flipH="1">
            <a:off x="99060" y="4133797"/>
            <a:ext cx="4135092" cy="450323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C4EB5D07-DB85-444C-9EB7-54C0CC387732}"/>
              </a:ext>
            </a:extLst>
          </p:cNvPr>
          <p:cNvSpPr/>
          <p:nvPr/>
        </p:nvSpPr>
        <p:spPr>
          <a:xfrm flipH="1">
            <a:off x="2305230" y="1878260"/>
            <a:ext cx="9648645" cy="92333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D5ED5EE-853B-4BC2-BF49-D68CA21B40EF}"/>
              </a:ext>
            </a:extLst>
          </p:cNvPr>
          <p:cNvSpPr/>
          <p:nvPr/>
        </p:nvSpPr>
        <p:spPr>
          <a:xfrm>
            <a:off x="99060" y="6035235"/>
            <a:ext cx="4135093" cy="40011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50C9F4A-893B-4607-93BB-E08E3C92C740}"/>
              </a:ext>
            </a:extLst>
          </p:cNvPr>
          <p:cNvSpPr/>
          <p:nvPr/>
        </p:nvSpPr>
        <p:spPr>
          <a:xfrm>
            <a:off x="133351" y="5458260"/>
            <a:ext cx="3334568" cy="40011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32BFE9B-CC65-421B-AA67-7E0EFEC4C9BE}"/>
              </a:ext>
            </a:extLst>
          </p:cNvPr>
          <p:cNvSpPr/>
          <p:nvPr/>
        </p:nvSpPr>
        <p:spPr>
          <a:xfrm>
            <a:off x="133351" y="4875142"/>
            <a:ext cx="2886074" cy="40011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D52FB7-00CD-40CE-AB85-E83D9B934F26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0A1664-2027-44C2-9A24-308B6149D27D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40A121D-17AD-44FD-B47D-8AE94ADE3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138" y="374650"/>
            <a:ext cx="3086100" cy="1325563"/>
          </a:xfrm>
        </p:spPr>
        <p:txBody>
          <a:bodyPr/>
          <a:lstStyle/>
          <a:p>
            <a:r>
              <a:rPr lang="ru-RU" dirty="0">
                <a:latin typeface="Comic Sans MS" panose="030F0702030302020204" pitchFamily="66" charset="0"/>
              </a:rPr>
              <a:t>Проблема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490A7-A857-4792-BB65-EBACE3067D17}"/>
              </a:ext>
            </a:extLst>
          </p:cNvPr>
          <p:cNvSpPr txBox="1"/>
          <p:nvPr/>
        </p:nvSpPr>
        <p:spPr>
          <a:xfrm>
            <a:off x="133351" y="4151867"/>
            <a:ext cx="4100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effectLst/>
                <a:latin typeface="Comic Sans MS" panose="030F0702030302020204" pitchFamily="66" charset="0"/>
              </a:rPr>
              <a:t>Почему это особенно опасно?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E1BED8-ABC0-45B6-B30F-7884EABB120B}"/>
              </a:ext>
            </a:extLst>
          </p:cNvPr>
          <p:cNvSpPr txBox="1"/>
          <p:nvPr/>
        </p:nvSpPr>
        <p:spPr>
          <a:xfrm>
            <a:off x="99060" y="486913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effectLst/>
                <a:latin typeface="Comic Sans MS" panose="030F0702030302020204" pitchFamily="66" charset="0"/>
              </a:rPr>
              <a:t>Отсутствие торможения	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76C88A-B4B1-4B39-B3DE-45A3DAE87848}"/>
              </a:ext>
            </a:extLst>
          </p:cNvPr>
          <p:cNvSpPr txBox="1"/>
          <p:nvPr/>
        </p:nvSpPr>
        <p:spPr>
          <a:xfrm>
            <a:off x="133352" y="5473649"/>
            <a:ext cx="3334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effectLst/>
                <a:latin typeface="Comic Sans MS" panose="030F0702030302020204" pitchFamily="66" charset="0"/>
              </a:rPr>
              <a:t>Тотальная потеря контроля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4BC444-5C9F-45FF-9A4D-D6CE2F212365}"/>
              </a:ext>
            </a:extLst>
          </p:cNvPr>
          <p:cNvSpPr txBox="1"/>
          <p:nvPr/>
        </p:nvSpPr>
        <p:spPr>
          <a:xfrm>
            <a:off x="133351" y="6027102"/>
            <a:ext cx="410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effectLst/>
                <a:latin typeface="Comic Sans MS" panose="030F0702030302020204" pitchFamily="66" charset="0"/>
              </a:rPr>
              <a:t>Высокая скорость в момент удара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2BE43-7F5F-48B8-9A2B-1866FE37D696}"/>
              </a:ext>
            </a:extLst>
          </p:cNvPr>
          <p:cNvSpPr txBox="1"/>
          <p:nvPr/>
        </p:nvSpPr>
        <p:spPr>
          <a:xfrm>
            <a:off x="2305230" y="1878260"/>
            <a:ext cx="9819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   </a:t>
            </a:r>
            <a:r>
              <a:rPr lang="ru-RU" dirty="0">
                <a:latin typeface="Comic Sans MS" panose="030F0702030302020204" pitchFamily="66" charset="0"/>
              </a:rPr>
              <a:t>Водитель уснул за рулем - э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то одна из самых опасных причин ДТП, так как водитель физически не способен реагировать на дорожную обстановку. В отличие от езды в нетрезвом виде (где реакции замедлены), во сне они </a:t>
            </a:r>
            <a:r>
              <a:rPr lang="ru-RU" b="1" i="0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отсутствуют полностью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.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5D125FFF-4FC2-4E03-B88F-9EC403F4F050}"/>
              </a:ext>
            </a:extLst>
          </p:cNvPr>
          <p:cNvSpPr/>
          <p:nvPr/>
        </p:nvSpPr>
        <p:spPr>
          <a:xfrm>
            <a:off x="237683" y="3270942"/>
            <a:ext cx="4135093" cy="40011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2" name="Диаграмма 31">
            <a:extLst>
              <a:ext uri="{FF2B5EF4-FFF2-40B4-BE49-F238E27FC236}">
                <a16:creationId xmlns:a16="http://schemas.microsoft.com/office/drawing/2014/main" id="{2259ECC2-FD54-44F4-B7E9-33FC833BE4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7719843"/>
              </p:ext>
            </p:extLst>
          </p:nvPr>
        </p:nvGraphicFramePr>
        <p:xfrm>
          <a:off x="3834144" y="2657641"/>
          <a:ext cx="5818088" cy="3231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1238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3C5F33B-488C-4C00-A2A3-92F06D2B6771}"/>
              </a:ext>
            </a:extLst>
          </p:cNvPr>
          <p:cNvSpPr/>
          <p:nvPr/>
        </p:nvSpPr>
        <p:spPr>
          <a:xfrm flipH="1">
            <a:off x="1188243" y="2757398"/>
            <a:ext cx="8612239" cy="1938992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158EB9-DB2B-41C1-B25A-6E1690ABF96A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9493B6-B734-4B3C-B229-20FF4038CCB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5828BD08-2C25-4374-891B-C65770E4D42B}"/>
              </a:ext>
            </a:extLst>
          </p:cNvPr>
          <p:cNvSpPr txBox="1">
            <a:spLocks/>
          </p:cNvSpPr>
          <p:nvPr/>
        </p:nvSpPr>
        <p:spPr>
          <a:xfrm>
            <a:off x="7459663" y="412750"/>
            <a:ext cx="25670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Comic Sans MS" panose="030F0702030302020204" pitchFamily="66" charset="0"/>
              </a:rPr>
              <a:t>Решение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1914CA-4682-48C7-9775-D7F2827797C9}"/>
              </a:ext>
            </a:extLst>
          </p:cNvPr>
          <p:cNvSpPr txBox="1"/>
          <p:nvPr/>
        </p:nvSpPr>
        <p:spPr>
          <a:xfrm>
            <a:off x="1197769" y="2757398"/>
            <a:ext cx="8641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Eye-Tracker – </a:t>
            </a:r>
            <a:r>
              <a:rPr lang="ru-RU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это </a:t>
            </a:r>
            <a:r>
              <a:rPr lang="ru-RU" sz="24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трекер</a:t>
            </a:r>
            <a:r>
              <a:rPr lang="ru-RU" sz="2400" dirty="0">
                <a:latin typeface="Comic Sans MS" panose="030F0702030302020204" pitchFamily="66" charset="0"/>
                <a:cs typeface="Times New Roman" panose="02020603050405020304" pitchFamily="18" charset="0"/>
              </a:rPr>
              <a:t> глаз водителя, который в случае если водитель находится в бессознательном состоянии или отвлекся, выводит предупреждение. В случае игнорирования этого предупреждения машина аккуратно остановится</a:t>
            </a:r>
          </a:p>
        </p:txBody>
      </p:sp>
    </p:spTree>
    <p:extLst>
      <p:ext uri="{BB962C8B-B14F-4D97-AF65-F5344CB8AC3E}">
        <p14:creationId xmlns:p14="http://schemas.microsoft.com/office/powerpoint/2010/main" val="204923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42100E3-8C2A-42CB-BEBB-A6E08D69CA36}"/>
              </a:ext>
            </a:extLst>
          </p:cNvPr>
          <p:cNvSpPr/>
          <p:nvPr/>
        </p:nvSpPr>
        <p:spPr>
          <a:xfrm flipH="1">
            <a:off x="2303384" y="2161966"/>
            <a:ext cx="6359432" cy="40011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409B38E-CB18-4957-9184-F0439A7AA915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9AD454-1E00-4FC7-9F49-25BD8EC0EDA2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410F57B-85B4-4EB3-9F3C-D8D83775DE03}"/>
              </a:ext>
            </a:extLst>
          </p:cNvPr>
          <p:cNvSpPr txBox="1">
            <a:spLocks/>
          </p:cNvSpPr>
          <p:nvPr/>
        </p:nvSpPr>
        <p:spPr>
          <a:xfrm>
            <a:off x="5819775" y="374650"/>
            <a:ext cx="5495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Comic Sans MS" panose="030F0702030302020204" pitchFamily="66" charset="0"/>
                <a:cs typeface="Times New Roman" panose="02020603050405020304" pitchFamily="18" charset="0"/>
              </a:rPr>
              <a:t>Целевая аудитория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9EF0D-28EA-47A2-B448-3F44B4BEACA2}"/>
              </a:ext>
            </a:extLst>
          </p:cNvPr>
          <p:cNvSpPr txBox="1"/>
          <p:nvPr/>
        </p:nvSpPr>
        <p:spPr>
          <a:xfrm>
            <a:off x="2303384" y="2100411"/>
            <a:ext cx="6359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Основные предпочтения сотрудничества: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F9B12B40-D855-426E-89D5-8AC33D2FA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639363"/>
              </p:ext>
            </p:extLst>
          </p:nvPr>
        </p:nvGraphicFramePr>
        <p:xfrm>
          <a:off x="1303363" y="2857500"/>
          <a:ext cx="7983512" cy="374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4633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081C2C-68C3-4115-879D-8A444D2BE32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6BB22-084F-4743-AEA4-AAED42096227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05043-A0A1-4204-8B6C-F229587F7857}"/>
              </a:ext>
            </a:extLst>
          </p:cNvPr>
          <p:cNvSpPr txBox="1"/>
          <p:nvPr/>
        </p:nvSpPr>
        <p:spPr>
          <a:xfrm>
            <a:off x="7497763" y="835446"/>
            <a:ext cx="40959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omic Sans MS" panose="030F0702030302020204" pitchFamily="66" charset="0"/>
              </a:rPr>
              <a:t>Экономика 🤑</a:t>
            </a:r>
            <a:endParaRPr lang="en-US" sz="4400" dirty="0">
              <a:latin typeface="Comic Sans MS" panose="030F0702030302020204" pitchFamily="66" charset="0"/>
            </a:endParaRPr>
          </a:p>
          <a:p>
            <a:pPr algn="ctr"/>
            <a:r>
              <a:rPr lang="ru-RU" sz="2000" dirty="0">
                <a:latin typeface="Comic Sans MS" panose="030F0702030302020204" pitchFamily="66" charset="0"/>
              </a:rPr>
              <a:t>(</a:t>
            </a:r>
            <a:r>
              <a:rPr lang="en-US" sz="2000" dirty="0">
                <a:latin typeface="Comic Sans MS" panose="030F0702030302020204" pitchFamily="66" charset="0"/>
              </a:rPr>
              <a:t>B2B</a:t>
            </a:r>
            <a:r>
              <a:rPr lang="ru-RU" sz="2000" dirty="0">
                <a:latin typeface="Comic Sans MS" panose="030F0702030302020204" pitchFamily="66" charset="0"/>
              </a:rPr>
              <a:t>)</a:t>
            </a:r>
            <a:endParaRPr lang="ru-RU" sz="1000" dirty="0">
              <a:latin typeface="Comic Sans MS" panose="030F0702030302020204" pitchFamily="66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1C5F7A88-9E52-495D-AB1F-575320F1D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29200"/>
              </p:ext>
            </p:extLst>
          </p:nvPr>
        </p:nvGraphicFramePr>
        <p:xfrm>
          <a:off x="733424" y="2482455"/>
          <a:ext cx="4938764" cy="3938507"/>
        </p:xfrm>
        <a:graphic>
          <a:graphicData uri="http://schemas.openxmlformats.org/drawingml/2006/table">
            <a:tbl>
              <a:tblPr/>
              <a:tblGrid>
                <a:gridCol w="1646255">
                  <a:extLst>
                    <a:ext uri="{9D8B030D-6E8A-4147-A177-3AD203B41FA5}">
                      <a16:colId xmlns:a16="http://schemas.microsoft.com/office/drawing/2014/main" val="3773558447"/>
                    </a:ext>
                  </a:extLst>
                </a:gridCol>
                <a:gridCol w="1609887">
                  <a:extLst>
                    <a:ext uri="{9D8B030D-6E8A-4147-A177-3AD203B41FA5}">
                      <a16:colId xmlns:a16="http://schemas.microsoft.com/office/drawing/2014/main" val="621928399"/>
                    </a:ext>
                  </a:extLst>
                </a:gridCol>
                <a:gridCol w="1682622">
                  <a:extLst>
                    <a:ext uri="{9D8B030D-6E8A-4147-A177-3AD203B41FA5}">
                      <a16:colId xmlns:a16="http://schemas.microsoft.com/office/drawing/2014/main" val="779547598"/>
                    </a:ext>
                  </a:extLst>
                </a:gridCol>
              </a:tblGrid>
              <a:tr h="213894"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Статья </a:t>
                      </a: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CAPEX</a:t>
                      </a: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Описание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Тыс. ₽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223938"/>
                  </a:ext>
                </a:extLst>
              </a:tr>
              <a:tr h="587061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Интеграция в </a:t>
                      </a:r>
                      <a:r>
                        <a:rPr lang="en-US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CAN-</a:t>
                      </a:r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архитектуру</a:t>
                      </a:r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Проектирование интерфейсов, протоколы обмена данными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3 000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449051"/>
                  </a:ext>
                </a:extLst>
              </a:tr>
              <a:tr h="644094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Сертификация (</a:t>
                      </a:r>
                      <a:r>
                        <a:rPr lang="en-US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E-Mark / </a:t>
                      </a:r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СИМ)</a:t>
                      </a:r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Безопасность, электромагнитная совместимость, климатические тесты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2 500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512075"/>
                  </a:ext>
                </a:extLst>
              </a:tr>
              <a:tr h="462672"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Адаптация ПО под конкретную модель</a:t>
                      </a:r>
                      <a:endParaRPr lang="ru-RU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Углы обзора, зона глаз водителя, логика тревог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1 500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80449"/>
                  </a:ext>
                </a:extLst>
              </a:tr>
              <a:tr h="418869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Оснащение линий установки</a:t>
                      </a:r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Программаторы, конвейерные тестеры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1 000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149882"/>
                  </a:ext>
                </a:extLst>
              </a:tr>
              <a:tr h="418869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Обучение инженеров завода</a:t>
                      </a:r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4 человека × 5 дней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400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71519"/>
                  </a:ext>
                </a:extLst>
              </a:tr>
              <a:tr h="418869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Резерв непредвиденных расходов</a:t>
                      </a:r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15%</a:t>
                      </a: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1 260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450991"/>
                  </a:ext>
                </a:extLst>
              </a:tr>
              <a:tr h="338283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Итого </a:t>
                      </a:r>
                      <a:r>
                        <a:rPr lang="en-US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CAPEX (</a:t>
                      </a:r>
                      <a:r>
                        <a:rPr lang="ru-RU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разово)</a:t>
                      </a:r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52637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7729" marR="87729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~9 660 тыс. ₽</a:t>
                      </a:r>
                      <a:r>
                        <a:rPr lang="ru-RU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mic Sans MS" panose="030F0702030302020204" pitchFamily="66" charset="0"/>
                        </a:rPr>
                        <a:t> (≈ $95 тыс.)</a:t>
                      </a:r>
                    </a:p>
                  </a:txBody>
                  <a:tcPr marL="87729" marR="52637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8081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0570AC9-5ED5-4D82-A502-A1E6B2D039EA}"/>
              </a:ext>
            </a:extLst>
          </p:cNvPr>
          <p:cNvSpPr txBox="1"/>
          <p:nvPr/>
        </p:nvSpPr>
        <p:spPr>
          <a:xfrm>
            <a:off x="2700104" y="2059795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CAPEX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D4D5D-7BD4-434E-8417-800DAA260C60}"/>
              </a:ext>
            </a:extLst>
          </p:cNvPr>
          <p:cNvSpPr txBox="1"/>
          <p:nvPr/>
        </p:nvSpPr>
        <p:spPr>
          <a:xfrm>
            <a:off x="0" y="6443512"/>
            <a:ext cx="8267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Это сумма, которую завод </a:t>
            </a:r>
            <a:r>
              <a:rPr lang="ru-RU" sz="1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платит один раз</a:t>
            </a:r>
            <a:r>
              <a:rPr lang="ru-RU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, чтобы запустить </a:t>
            </a:r>
            <a:r>
              <a:rPr lang="ru-RU"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трекер</a:t>
            </a:r>
            <a:r>
              <a:rPr lang="ru-RU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 в серию.</a:t>
            </a: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FD19A40-9B5E-413C-B887-EB9E64F85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872114"/>
              </p:ext>
            </p:extLst>
          </p:nvPr>
        </p:nvGraphicFramePr>
        <p:xfrm>
          <a:off x="6096000" y="2482455"/>
          <a:ext cx="5720640" cy="3938508"/>
        </p:xfrm>
        <a:graphic>
          <a:graphicData uri="http://schemas.openxmlformats.org/drawingml/2006/table">
            <a:tbl>
              <a:tblPr/>
              <a:tblGrid>
                <a:gridCol w="1906880">
                  <a:extLst>
                    <a:ext uri="{9D8B030D-6E8A-4147-A177-3AD203B41FA5}">
                      <a16:colId xmlns:a16="http://schemas.microsoft.com/office/drawing/2014/main" val="1925490539"/>
                    </a:ext>
                  </a:extLst>
                </a:gridCol>
                <a:gridCol w="1906880">
                  <a:extLst>
                    <a:ext uri="{9D8B030D-6E8A-4147-A177-3AD203B41FA5}">
                      <a16:colId xmlns:a16="http://schemas.microsoft.com/office/drawing/2014/main" val="2022134075"/>
                    </a:ext>
                  </a:extLst>
                </a:gridCol>
                <a:gridCol w="1906880">
                  <a:extLst>
                    <a:ext uri="{9D8B030D-6E8A-4147-A177-3AD203B41FA5}">
                      <a16:colId xmlns:a16="http://schemas.microsoft.com/office/drawing/2014/main" val="3514842000"/>
                    </a:ext>
                  </a:extLst>
                </a:gridCol>
              </a:tblGrid>
              <a:tr h="336012"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Статья </a:t>
                      </a:r>
                      <a:r>
                        <a:rPr lang="en-US" sz="1100" b="0">
                          <a:effectLst/>
                          <a:latin typeface="Comic Sans MS" panose="030F0702030302020204" pitchFamily="66" charset="0"/>
                        </a:rPr>
                        <a:t>OPEX </a:t>
                      </a:r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в год</a:t>
                      </a: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Как считается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Comic Sans MS" panose="030F0702030302020204" pitchFamily="66" charset="0"/>
                        </a:rPr>
                        <a:t>Тыс. ₽ / год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54291"/>
                  </a:ext>
                </a:extLst>
              </a:tr>
              <a:tr h="732618"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  <a:latin typeface="Comic Sans MS" panose="030F0702030302020204" pitchFamily="66" charset="0"/>
                        </a:rPr>
                        <a:t>Закупка комплектующих</a:t>
                      </a:r>
                      <a:endParaRPr lang="ru-RU" sz="1100" b="0" dirty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Comic Sans MS" panose="030F0702030302020204" pitchFamily="66" charset="0"/>
                        </a:rPr>
                        <a:t>50 000 авто × 3 500 ₽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Comic Sans MS" panose="030F0702030302020204" pitchFamily="66" charset="0"/>
                        </a:rPr>
                        <a:t>175 000</a:t>
                      </a:r>
                    </a:p>
                  </a:txBody>
                  <a:tcPr marL="121716" marR="73029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679064"/>
                  </a:ext>
                </a:extLst>
              </a:tr>
              <a:tr h="534315"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  <a:latin typeface="Comic Sans MS" panose="030F0702030302020204" pitchFamily="66" charset="0"/>
                        </a:rPr>
                        <a:t>Складская логистика</a:t>
                      </a:r>
                      <a:endParaRPr lang="ru-RU" sz="1100" b="0" dirty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Comic Sans MS" panose="030F0702030302020204" pitchFamily="66" charset="0"/>
                        </a:rPr>
                        <a:t>3% от стоимости комплекта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Comic Sans MS" panose="030F0702030302020204" pitchFamily="66" charset="0"/>
                        </a:rPr>
                        <a:t>5 250</a:t>
                      </a:r>
                    </a:p>
                  </a:txBody>
                  <a:tcPr marL="121716" marR="73029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497951"/>
                  </a:ext>
                </a:extLst>
              </a:tr>
              <a:tr h="732618"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  <a:latin typeface="Comic Sans MS" panose="030F0702030302020204" pitchFamily="66" charset="0"/>
                        </a:rPr>
                        <a:t>Поддержка ПО</a:t>
                      </a:r>
                      <a:endParaRPr lang="ru-RU" sz="1100" b="0" dirty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Фиксированно от поставщика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2 000</a:t>
                      </a:r>
                    </a:p>
                  </a:txBody>
                  <a:tcPr marL="121716" marR="73029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830615"/>
                  </a:ext>
                </a:extLst>
              </a:tr>
              <a:tr h="732618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  <a:latin typeface="Comic Sans MS" panose="030F0702030302020204" pitchFamily="66" charset="0"/>
                        </a:rPr>
                        <a:t>Аналитический отчёт по усталости водителей</a:t>
                      </a:r>
                      <a:endParaRPr lang="ru-RU" sz="11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Опционально (вы продаёте как подписку)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1 500</a:t>
                      </a:r>
                    </a:p>
                  </a:txBody>
                  <a:tcPr marL="121716" marR="73029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009019"/>
                  </a:ext>
                </a:extLst>
              </a:tr>
              <a:tr h="534315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  <a:latin typeface="Comic Sans MS" panose="030F0702030302020204" pitchFamily="66" charset="0"/>
                        </a:rPr>
                        <a:t>Возвраты / замена брака</a:t>
                      </a:r>
                      <a:endParaRPr lang="ru-RU" sz="11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1,5% от отгрузок</a:t>
                      </a: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Comic Sans MS" panose="030F0702030302020204" pitchFamily="66" charset="0"/>
                        </a:rPr>
                        <a:t>2 625</a:t>
                      </a:r>
                    </a:p>
                  </a:txBody>
                  <a:tcPr marL="121716" marR="73029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26535"/>
                  </a:ext>
                </a:extLst>
              </a:tr>
              <a:tr h="336012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  <a:latin typeface="Comic Sans MS" panose="030F0702030302020204" pitchFamily="66" charset="0"/>
                        </a:rPr>
                        <a:t>Итого </a:t>
                      </a:r>
                      <a:r>
                        <a:rPr lang="en-US" sz="1100" b="1">
                          <a:effectLst/>
                          <a:latin typeface="Comic Sans MS" panose="030F0702030302020204" pitchFamily="66" charset="0"/>
                        </a:rPr>
                        <a:t>OPEX </a:t>
                      </a:r>
                      <a:r>
                        <a:rPr lang="ru-RU" sz="1100" b="1">
                          <a:effectLst/>
                          <a:latin typeface="Comic Sans MS" panose="030F0702030302020204" pitchFamily="66" charset="0"/>
                        </a:rPr>
                        <a:t>за год</a:t>
                      </a:r>
                      <a:endParaRPr lang="ru-RU" sz="11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73029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  <a:latin typeface="Comic Sans MS" panose="030F0702030302020204" pitchFamily="66" charset="0"/>
                        </a:rPr>
                        <a:t>~186 375 тыс. ₽</a:t>
                      </a:r>
                      <a:endParaRPr lang="ru-RU" sz="1100" b="0" dirty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716" marR="73029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16367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FF8C89-F709-4DF0-8492-76EB951E1531}"/>
              </a:ext>
            </a:extLst>
          </p:cNvPr>
          <p:cNvSpPr txBox="1"/>
          <p:nvPr/>
        </p:nvSpPr>
        <p:spPr>
          <a:xfrm>
            <a:off x="8676610" y="2059795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OPEX</a:t>
            </a:r>
            <a:endParaRPr lang="ru-RU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997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081C2C-68C3-4115-879D-8A444D2BE32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6BB22-084F-4743-AEA4-AAED42096227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12302-439E-428E-AD4C-4AD6AB22F77C}"/>
              </a:ext>
            </a:extLst>
          </p:cNvPr>
          <p:cNvSpPr txBox="1"/>
          <p:nvPr/>
        </p:nvSpPr>
        <p:spPr>
          <a:xfrm>
            <a:off x="8570014" y="317375"/>
            <a:ext cx="30380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omic Sans MS" panose="030F0702030302020204" pitchFamily="66" charset="0"/>
              </a:rPr>
              <a:t>Прибыль?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7F10168C-C8C2-4575-830F-4AC9C4B9A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848923"/>
              </p:ext>
            </p:extLst>
          </p:nvPr>
        </p:nvGraphicFramePr>
        <p:xfrm>
          <a:off x="1466851" y="1720900"/>
          <a:ext cx="8515351" cy="4535408"/>
        </p:xfrm>
        <a:graphic>
          <a:graphicData uri="http://schemas.openxmlformats.org/drawingml/2006/table">
            <a:tbl>
              <a:tblPr/>
              <a:tblGrid>
                <a:gridCol w="1819813">
                  <a:extLst>
                    <a:ext uri="{9D8B030D-6E8A-4147-A177-3AD203B41FA5}">
                      <a16:colId xmlns:a16="http://schemas.microsoft.com/office/drawing/2014/main" val="4139450244"/>
                    </a:ext>
                  </a:extLst>
                </a:gridCol>
                <a:gridCol w="2231846">
                  <a:extLst>
                    <a:ext uri="{9D8B030D-6E8A-4147-A177-3AD203B41FA5}">
                      <a16:colId xmlns:a16="http://schemas.microsoft.com/office/drawing/2014/main" val="480615133"/>
                    </a:ext>
                  </a:extLst>
                </a:gridCol>
                <a:gridCol w="2231846">
                  <a:extLst>
                    <a:ext uri="{9D8B030D-6E8A-4147-A177-3AD203B41FA5}">
                      <a16:colId xmlns:a16="http://schemas.microsoft.com/office/drawing/2014/main" val="2492352756"/>
                    </a:ext>
                  </a:extLst>
                </a:gridCol>
                <a:gridCol w="2231846">
                  <a:extLst>
                    <a:ext uri="{9D8B030D-6E8A-4147-A177-3AD203B41FA5}">
                      <a16:colId xmlns:a16="http://schemas.microsoft.com/office/drawing/2014/main" val="1080563566"/>
                    </a:ext>
                  </a:extLst>
                </a:gridCol>
              </a:tblGrid>
              <a:tr h="278055"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Этап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Срок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Суммарная прибыль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Риск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61660"/>
                  </a:ext>
                </a:extLst>
              </a:tr>
              <a:tr h="693023"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Переговоры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0-12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мес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-5 млн ₽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Высокий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161934"/>
                  </a:ext>
                </a:extLst>
              </a:tr>
              <a:tr h="879822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NRE (</a:t>
                      </a:r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инжиниринг)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12-24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мес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 ₽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 (завод оплатил долги)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Средний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476017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Опытная партия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24-36 мес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-2 млн ₽</a:t>
                      </a:r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 (убыток, т.к. мало штук)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Очень высокий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63509"/>
                  </a:ext>
                </a:extLst>
              </a:tr>
              <a:tr h="739428"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Серия &lt; 10к/год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36-48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мес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+1 млн ₽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 (выход в ноль)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Риск снятия с производства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69504"/>
                  </a:ext>
                </a:extLst>
              </a:tr>
              <a:tr h="768325">
                <a:tc>
                  <a:txBody>
                    <a:bodyPr/>
                    <a:lstStyle/>
                    <a:p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Стабильная серия (50к/год)</a:t>
                      </a:r>
                      <a:endParaRPr lang="ru-RU" sz="1600" b="0"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48-60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мес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+50 млн ₽</a:t>
                      </a:r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 (за год)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Низкий (реальная прибыль)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286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77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081C2C-68C3-4115-879D-8A444D2BE32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6BB22-084F-4743-AEA4-AAED42096227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12302-439E-428E-AD4C-4AD6AB22F77C}"/>
              </a:ext>
            </a:extLst>
          </p:cNvPr>
          <p:cNvSpPr txBox="1"/>
          <p:nvPr/>
        </p:nvSpPr>
        <p:spPr>
          <a:xfrm>
            <a:off x="8646214" y="400050"/>
            <a:ext cx="25250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omic Sans MS" panose="030F0702030302020204" pitchFamily="66" charset="0"/>
              </a:rPr>
              <a:t>Аналоги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ED1F1A8-03AD-4E1B-A239-981910EF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72875"/>
              </p:ext>
            </p:extLst>
          </p:nvPr>
        </p:nvGraphicFramePr>
        <p:xfrm>
          <a:off x="923925" y="1781393"/>
          <a:ext cx="9715502" cy="4323375"/>
        </p:xfrm>
        <a:graphic>
          <a:graphicData uri="http://schemas.openxmlformats.org/drawingml/2006/table">
            <a:tbl>
              <a:tblPr/>
              <a:tblGrid>
                <a:gridCol w="2076296">
                  <a:extLst>
                    <a:ext uri="{9D8B030D-6E8A-4147-A177-3AD203B41FA5}">
                      <a16:colId xmlns:a16="http://schemas.microsoft.com/office/drawing/2014/main" val="3897250251"/>
                    </a:ext>
                  </a:extLst>
                </a:gridCol>
                <a:gridCol w="2546402">
                  <a:extLst>
                    <a:ext uri="{9D8B030D-6E8A-4147-A177-3AD203B41FA5}">
                      <a16:colId xmlns:a16="http://schemas.microsoft.com/office/drawing/2014/main" val="2401547111"/>
                    </a:ext>
                  </a:extLst>
                </a:gridCol>
                <a:gridCol w="2546402">
                  <a:extLst>
                    <a:ext uri="{9D8B030D-6E8A-4147-A177-3AD203B41FA5}">
                      <a16:colId xmlns:a16="http://schemas.microsoft.com/office/drawing/2014/main" val="1833054230"/>
                    </a:ext>
                  </a:extLst>
                </a:gridCol>
                <a:gridCol w="2546402">
                  <a:extLst>
                    <a:ext uri="{9D8B030D-6E8A-4147-A177-3AD203B41FA5}">
                      <a16:colId xmlns:a16="http://schemas.microsoft.com/office/drawing/2014/main" val="1869147962"/>
                    </a:ext>
                  </a:extLst>
                </a:gridCol>
              </a:tblGrid>
              <a:tr h="617625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Критерий</a:t>
                      </a: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effectLst/>
                          <a:latin typeface="Comic Sans MS" panose="030F0702030302020204" pitchFamily="66" charset="0"/>
                        </a:rPr>
                        <a:t>Eye-Tracker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effectLst/>
                          <a:latin typeface="Comic Sans MS" panose="030F0702030302020204" pitchFamily="66" charset="0"/>
                        </a:rPr>
                        <a:t>Seeing Machines / Smart Eye</a:t>
                      </a:r>
                      <a:endParaRPr lang="ru-RU" sz="1300" b="0" dirty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  <a:latin typeface="Comic Sans MS" panose="030F0702030302020204" pitchFamily="66" charset="0"/>
                        </a:rPr>
                        <a:t>Российские аналоги</a:t>
                      </a:r>
                      <a:endParaRPr lang="ru-RU" sz="1300" b="0" dirty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99563"/>
                  </a:ext>
                </a:extLst>
              </a:tr>
              <a:tr h="617625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Comic Sans MS" panose="030F0702030302020204" pitchFamily="66" charset="0"/>
                        </a:rPr>
                        <a:t>Детекция сна</a:t>
                      </a:r>
                      <a:endParaRPr lang="ru-RU" sz="13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Comic Sans MS" panose="030F0702030302020204" pitchFamily="66" charset="0"/>
                        </a:rPr>
                        <a:t>✅ (Через закрытие глаз)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Comic Sans MS" panose="030F0702030302020204" pitchFamily="66" charset="0"/>
                        </a:rPr>
                        <a:t>✅ (Через микро-сон, частоту моргания)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</a:t>
                      </a:r>
                    </a:p>
                  </a:txBody>
                  <a:tcPr marL="107176" marR="64305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93120"/>
                  </a:ext>
                </a:extLst>
              </a:tr>
              <a:tr h="617625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Comic Sans MS" panose="030F0702030302020204" pitchFamily="66" charset="0"/>
                        </a:rPr>
                        <a:t>Детекция отвлечения</a:t>
                      </a:r>
                      <a:endParaRPr lang="ru-RU" sz="13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🟡 Только поворот головы (X коорд.)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 (Взгляд в телефон, в зеркало, на пассажира)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</a:t>
                      </a:r>
                    </a:p>
                  </a:txBody>
                  <a:tcPr marL="107176" marR="64305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54311"/>
                  </a:ext>
                </a:extLst>
              </a:tr>
              <a:tr h="617625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Comic Sans MS" panose="030F0702030302020204" pitchFamily="66" charset="0"/>
                        </a:rPr>
                        <a:t>Работа в темноте</a:t>
                      </a:r>
                      <a:endParaRPr lang="ru-RU" sz="13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❌ (Нет ИК-подсветки)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 (ИК-камеры + драйверы до 100 Вт) 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</a:t>
                      </a:r>
                    </a:p>
                  </a:txBody>
                  <a:tcPr marL="107176" marR="64305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619273"/>
                  </a:ext>
                </a:extLst>
              </a:tr>
              <a:tr h="617625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Comic Sans MS" panose="030F0702030302020204" pitchFamily="66" charset="0"/>
                        </a:rPr>
                        <a:t>Очки / Солнцезащита</a:t>
                      </a:r>
                      <a:endParaRPr lang="ru-RU" sz="13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❌ (Скорее всего ложные срабатывания)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 (Проходят алгоритмами)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🟡 (Зависит от реализации)</a:t>
                      </a:r>
                    </a:p>
                  </a:txBody>
                  <a:tcPr marL="107176" marR="64305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249478"/>
                  </a:ext>
                </a:extLst>
              </a:tr>
              <a:tr h="617625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Comic Sans MS" panose="030F0702030302020204" pitchFamily="66" charset="0"/>
                        </a:rPr>
                        <a:t>Защита от обмана</a:t>
                      </a:r>
                      <a:endParaRPr lang="ru-RU" sz="13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❌ (Поднесите видео — обманете)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 (Анти-спуфинг, </a:t>
                      </a:r>
                      <a:r>
                        <a:rPr lang="en-US" sz="1300" b="0">
                          <a:effectLst/>
                          <a:latin typeface="Comic Sans MS" panose="030F0702030302020204" pitchFamily="66" charset="0"/>
                        </a:rPr>
                        <a:t>Liveness detection)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Comic Sans MS" panose="030F0702030302020204" pitchFamily="66" charset="0"/>
                        </a:rPr>
                        <a:t>✅</a:t>
                      </a:r>
                    </a:p>
                  </a:txBody>
                  <a:tcPr marL="107176" marR="64305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95677"/>
                  </a:ext>
                </a:extLst>
              </a:tr>
              <a:tr h="617625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Comic Sans MS" panose="030F0702030302020204" pitchFamily="66" charset="0"/>
                        </a:rPr>
                        <a:t>Бизнес-модель</a:t>
                      </a:r>
                      <a:endParaRPr lang="ru-RU" sz="1300" b="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4305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Comic Sans MS" panose="030F0702030302020204" pitchFamily="66" charset="0"/>
                        </a:rPr>
                        <a:t>Продажа лицензии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Comic Sans MS" panose="030F0702030302020204" pitchFamily="66" charset="0"/>
                        </a:rPr>
                        <a:t>Лицензия за авто + </a:t>
                      </a:r>
                      <a:r>
                        <a:rPr lang="en-US" sz="1300" b="0" dirty="0">
                          <a:effectLst/>
                          <a:latin typeface="Comic Sans MS" panose="030F0702030302020204" pitchFamily="66" charset="0"/>
                        </a:rPr>
                        <a:t>Royalty</a:t>
                      </a:r>
                    </a:p>
                  </a:txBody>
                  <a:tcPr marL="107176" marR="107176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Comic Sans MS" panose="030F0702030302020204" pitchFamily="66" charset="0"/>
                        </a:rPr>
                        <a:t>Решение "под ключ" + Телематика</a:t>
                      </a:r>
                    </a:p>
                  </a:txBody>
                  <a:tcPr marL="107176" marR="64305" marT="66985" marB="66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E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79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178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6BB22-084F-4743-AEA4-AAED42096227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081C2C-68C3-4115-879D-8A444D2BE32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139C288-D8CD-4C71-BA4F-A1C3A454DF15}"/>
              </a:ext>
            </a:extLst>
          </p:cNvPr>
          <p:cNvSpPr/>
          <p:nvPr/>
        </p:nvSpPr>
        <p:spPr>
          <a:xfrm flipH="1">
            <a:off x="1638300" y="1698366"/>
            <a:ext cx="8715375" cy="4278094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C557E-BC89-440C-B023-E2C11045DE17}"/>
              </a:ext>
            </a:extLst>
          </p:cNvPr>
          <p:cNvSpPr txBox="1"/>
          <p:nvPr/>
        </p:nvSpPr>
        <p:spPr>
          <a:xfrm>
            <a:off x="8646214" y="400050"/>
            <a:ext cx="25250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omic Sans MS" panose="030F0702030302020204" pitchFamily="66" charset="0"/>
              </a:rPr>
              <a:t>Аналоги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D4266-D25C-4B25-8530-5506FCBF5321}"/>
              </a:ext>
            </a:extLst>
          </p:cNvPr>
          <p:cNvSpPr txBox="1"/>
          <p:nvPr/>
        </p:nvSpPr>
        <p:spPr>
          <a:xfrm>
            <a:off x="1912144" y="1698367"/>
            <a:ext cx="862488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sz="1600" b="1" i="0" dirty="0">
                <a:effectLst/>
                <a:latin typeface="Comic Sans MS" panose="030F0702030302020204" pitchFamily="66" charset="0"/>
              </a:rPr>
              <a:t>Приватность:</a:t>
            </a:r>
            <a:endParaRPr lang="ru-RU" sz="1600" b="0" i="0" dirty="0">
              <a:effectLst/>
              <a:latin typeface="Comic Sans MS" panose="030F0702030302020204" pitchFamily="66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1" dirty="0">
                <a:effectLst/>
                <a:latin typeface="Comic Sans MS" panose="030F0702030302020204" pitchFamily="66" charset="0"/>
              </a:rPr>
              <a:t>Проблема гигантов: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 </a:t>
            </a:r>
            <a:r>
              <a:rPr lang="ru-RU" sz="1600" b="0" i="0" dirty="0" err="1">
                <a:effectLst/>
                <a:latin typeface="Comic Sans MS" panose="030F0702030302020204" pitchFamily="66" charset="0"/>
              </a:rPr>
              <a:t>Seeing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1600" b="0" i="0" dirty="0" err="1">
                <a:effectLst/>
                <a:latin typeface="Comic Sans MS" panose="030F0702030302020204" pitchFamily="66" charset="0"/>
              </a:rPr>
              <a:t>Machines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 собирают данные о поведении водителя. В России (с учетом "</a:t>
            </a:r>
            <a:r>
              <a:rPr lang="ru-RU" sz="1600" b="0" i="0" dirty="0" err="1">
                <a:effectLst/>
                <a:latin typeface="Comic Sans MS" panose="030F0702030302020204" pitchFamily="66" charset="0"/>
              </a:rPr>
              <a:t>Видеоглаза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" и законов о персональных данных) компании не хотят передавать "лица" и "привычки" сотрудников западным серверам или даже российским облакам.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effectLst/>
                <a:latin typeface="Comic Sans MS" panose="030F0702030302020204" pitchFamily="66" charset="0"/>
              </a:rPr>
              <a:t>Гибкость и "Доработка":</a:t>
            </a:r>
            <a:endParaRPr lang="ru-RU" sz="1600" b="0" i="0" dirty="0">
              <a:effectLst/>
              <a:latin typeface="Comic Sans MS" panose="030F0702030302020204" pitchFamily="66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Comic Sans MS" panose="030F0702030302020204" pitchFamily="66" charset="0"/>
              </a:rPr>
              <a:t>Крупные вендоры продают "черный ящик". У них нельзя попросить "добавить детекцию открытого люка бензобака" или "сделать сброс данных по особому сигналу".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dirty="0">
                <a:latin typeface="Comic Sans MS" panose="030F0702030302020204" pitchFamily="66" charset="0"/>
              </a:rPr>
              <a:t>Eye-tracker 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открыт</a:t>
            </a:r>
            <a:r>
              <a:rPr lang="en-US" sz="1600" dirty="0">
                <a:latin typeface="Comic Sans MS" panose="030F0702030302020204" pitchFamily="66" charset="0"/>
              </a:rPr>
              <a:t>. </a:t>
            </a:r>
            <a:r>
              <a:rPr lang="ru-RU" sz="1600" dirty="0">
                <a:latin typeface="Comic Sans MS" panose="030F0702030302020204" pitchFamily="66" charset="0"/>
              </a:rPr>
              <a:t>Его 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логику </a:t>
            </a:r>
            <a:r>
              <a:rPr lang="ru-RU" sz="1600" dirty="0">
                <a:latin typeface="Comic Sans MS" panose="030F0702030302020204" pitchFamily="66" charset="0"/>
              </a:rPr>
              <a:t>можно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 быстро </a:t>
            </a:r>
            <a:r>
              <a:rPr lang="ru-RU" sz="1600" b="0" i="0" dirty="0" err="1">
                <a:effectLst/>
                <a:latin typeface="Comic Sans MS" panose="030F0702030302020204" pitchFamily="66" charset="0"/>
              </a:rPr>
              <a:t>кастомизировать</a:t>
            </a:r>
            <a:r>
              <a:rPr lang="en-US" sz="1600" dirty="0">
                <a:latin typeface="Comic Sans MS" panose="030F0702030302020204" pitchFamily="66" charset="0"/>
              </a:rPr>
              <a:t> 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под ТЗ завода.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effectLst/>
                <a:latin typeface="Comic Sans MS" panose="030F0702030302020204" pitchFamily="66" charset="0"/>
              </a:rPr>
              <a:t>Импортозамещение (Самое сильное):</a:t>
            </a:r>
            <a:endParaRPr lang="ru-RU" sz="1600" b="0" i="0" dirty="0">
              <a:effectLst/>
              <a:latin typeface="Comic Sans MS" panose="030F0702030302020204" pitchFamily="66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Comic Sans MS" panose="030F0702030302020204" pitchFamily="66" charset="0"/>
              </a:rPr>
              <a:t>Qualcomm и </a:t>
            </a:r>
            <a:r>
              <a:rPr lang="ru-RU" sz="1600" b="0" i="0" dirty="0" err="1">
                <a:effectLst/>
                <a:latin typeface="Comic Sans MS" panose="030F0702030302020204" pitchFamily="66" charset="0"/>
              </a:rPr>
              <a:t>Seeing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1600" b="0" i="0" dirty="0" err="1">
                <a:effectLst/>
                <a:latin typeface="Comic Sans MS" panose="030F0702030302020204" pitchFamily="66" charset="0"/>
              </a:rPr>
              <a:t>Machines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 ушли из РФ или сворачивают поддержку.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1600" dirty="0">
                <a:latin typeface="Comic Sans MS" panose="030F0702030302020204" pitchFamily="66" charset="0"/>
              </a:rPr>
              <a:t>П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рототип </a:t>
            </a:r>
            <a:r>
              <a:rPr lang="en-US" sz="1600" b="0" i="0" dirty="0">
                <a:effectLst/>
                <a:latin typeface="Comic Sans MS" panose="030F0702030302020204" pitchFamily="66" charset="0"/>
              </a:rPr>
              <a:t>Eye-tracker 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— это 100% российск</a:t>
            </a:r>
            <a:r>
              <a:rPr lang="ru-RU" sz="1600" dirty="0">
                <a:latin typeface="Comic Sans MS" panose="030F0702030302020204" pitchFamily="66" charset="0"/>
              </a:rPr>
              <a:t>ое</a:t>
            </a:r>
            <a:r>
              <a:rPr lang="ru-RU" sz="1600" b="0" i="0" dirty="0">
                <a:effectLst/>
                <a:latin typeface="Comic Sans MS" panose="030F0702030302020204" pitchFamily="66" charset="0"/>
              </a:rPr>
              <a:t>. Его можно сертифицироваться по "Приказу Минпромторга № 719" (баллы за электронику). Большие корпорации будут платить НАЛОГ (включенный в цену контракта) просто за то, что "свои", а не "иностранный софт".</a:t>
            </a:r>
          </a:p>
        </p:txBody>
      </p:sp>
    </p:spTree>
    <p:extLst>
      <p:ext uri="{BB962C8B-B14F-4D97-AF65-F5344CB8AC3E}">
        <p14:creationId xmlns:p14="http://schemas.microsoft.com/office/powerpoint/2010/main" val="355427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6C378179-94CB-4378-B823-4CAB5F971A5F}"/>
              </a:ext>
            </a:extLst>
          </p:cNvPr>
          <p:cNvSpPr/>
          <p:nvPr/>
        </p:nvSpPr>
        <p:spPr>
          <a:xfrm>
            <a:off x="8146038" y="3362325"/>
            <a:ext cx="2005447" cy="1000125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3902D6F-1909-4F95-B562-75CED7C2C6F0}"/>
              </a:ext>
            </a:extLst>
          </p:cNvPr>
          <p:cNvSpPr/>
          <p:nvPr/>
        </p:nvSpPr>
        <p:spPr>
          <a:xfrm flipH="1">
            <a:off x="4095757" y="2420119"/>
            <a:ext cx="1819654" cy="1323438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B2E98CD-E580-414C-A2F1-49C0420A077E}"/>
              </a:ext>
            </a:extLst>
          </p:cNvPr>
          <p:cNvSpPr/>
          <p:nvPr/>
        </p:nvSpPr>
        <p:spPr>
          <a:xfrm flipH="1">
            <a:off x="3842491" y="4092342"/>
            <a:ext cx="2303332" cy="1492716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C1E3DEC-80B4-422A-B600-AC0F72983106}"/>
              </a:ext>
            </a:extLst>
          </p:cNvPr>
          <p:cNvSpPr/>
          <p:nvPr/>
        </p:nvSpPr>
        <p:spPr>
          <a:xfrm flipH="1">
            <a:off x="873512" y="4182257"/>
            <a:ext cx="2005445" cy="1323438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6BB22-084F-4743-AEA4-AAED42096227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081C2C-68C3-4115-879D-8A444D2BE32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FBA154B-604D-4E9D-8E5C-388E372FC81A}"/>
              </a:ext>
            </a:extLst>
          </p:cNvPr>
          <p:cNvSpPr/>
          <p:nvPr/>
        </p:nvSpPr>
        <p:spPr>
          <a:xfrm flipH="1">
            <a:off x="1056893" y="2464336"/>
            <a:ext cx="1638681" cy="1323438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CFBCC5-4F1D-4765-BEF4-5773834003FC}"/>
              </a:ext>
            </a:extLst>
          </p:cNvPr>
          <p:cNvSpPr txBox="1"/>
          <p:nvPr/>
        </p:nvSpPr>
        <p:spPr>
          <a:xfrm>
            <a:off x="7215138" y="552450"/>
            <a:ext cx="44502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omic Sans MS" panose="030F0702030302020204" pitchFamily="66" charset="0"/>
              </a:rPr>
              <a:t>Дорожная карта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B79EA-67A8-417B-B72A-E6E1C72EBDDD}"/>
              </a:ext>
            </a:extLst>
          </p:cNvPr>
          <p:cNvSpPr txBox="1"/>
          <p:nvPr/>
        </p:nvSpPr>
        <p:spPr>
          <a:xfrm>
            <a:off x="942594" y="2454443"/>
            <a:ext cx="1819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Продумать детали программы</a:t>
            </a:r>
            <a:endParaRPr lang="en-US" sz="2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BD110-6C29-4689-98E2-6BC2232E98B6}"/>
              </a:ext>
            </a:extLst>
          </p:cNvPr>
          <p:cNvSpPr txBox="1"/>
          <p:nvPr/>
        </p:nvSpPr>
        <p:spPr>
          <a:xfrm>
            <a:off x="990218" y="4182257"/>
            <a:ext cx="1772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код для отслеживания глаз</a:t>
            </a:r>
            <a:endParaRPr lang="en-US" sz="2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DED91-2D8B-4A6E-B342-BCDB481742DE}"/>
              </a:ext>
            </a:extLst>
          </p:cNvPr>
          <p:cNvSpPr txBox="1"/>
          <p:nvPr/>
        </p:nvSpPr>
        <p:spPr>
          <a:xfrm>
            <a:off x="3842491" y="4092342"/>
            <a:ext cx="228806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Функции выполняемые программой</a:t>
            </a:r>
          </a:p>
          <a:p>
            <a:pPr algn="ctr"/>
            <a:r>
              <a:rPr lang="ru-RU" sz="1100" dirty="0">
                <a:latin typeface="Comic Sans MS" panose="030F0702030302020204" pitchFamily="66" charset="0"/>
                <a:cs typeface="Times New Roman" panose="02020603050405020304" pitchFamily="18" charset="0"/>
              </a:rPr>
              <a:t>(вывод предупреждения и </a:t>
            </a:r>
            <a:r>
              <a:rPr lang="ru-RU" sz="11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тд</a:t>
            </a:r>
            <a:r>
              <a:rPr lang="ru-RU" sz="1100" dirty="0">
                <a:latin typeface="Comic Sans MS" panose="030F0702030302020204" pitchFamily="66" charset="0"/>
                <a:cs typeface="Times New Roman" panose="02020603050405020304" pitchFamily="18" charset="0"/>
              </a:rPr>
              <a:t>.)</a:t>
            </a:r>
            <a:endParaRPr lang="en-US" sz="11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2369D-0637-4699-86E0-F7A6F7675DE7}"/>
              </a:ext>
            </a:extLst>
          </p:cNvPr>
          <p:cNvSpPr txBox="1"/>
          <p:nvPr/>
        </p:nvSpPr>
        <p:spPr>
          <a:xfrm>
            <a:off x="4016374" y="2430012"/>
            <a:ext cx="19590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Тестирования и 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доработки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113F34-3994-471B-B2EE-52C813A7153D}"/>
              </a:ext>
            </a:extLst>
          </p:cNvPr>
          <p:cNvSpPr txBox="1"/>
          <p:nvPr/>
        </p:nvSpPr>
        <p:spPr>
          <a:xfrm>
            <a:off x="8146038" y="3474371"/>
            <a:ext cx="2005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2D272B3-1796-4744-ADDB-F50A6485F5EF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1852422" y="3777882"/>
            <a:ext cx="23812" cy="40437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BF837778-3D50-4278-8ED3-2F408A486AA2}"/>
              </a:ext>
            </a:extLst>
          </p:cNvPr>
          <p:cNvCxnSpPr>
            <a:stCxn id="21" idx="1"/>
          </p:cNvCxnSpPr>
          <p:nvPr/>
        </p:nvCxnSpPr>
        <p:spPr>
          <a:xfrm flipV="1">
            <a:off x="2878957" y="4838700"/>
            <a:ext cx="963534" cy="527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97FBE13C-AE64-4F85-8F0F-EA3F3A098B66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4986525" y="3753451"/>
            <a:ext cx="9398" cy="3388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90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081C2C-68C3-4115-879D-8A444D2BE326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6BB22-084F-4743-AEA4-AAED42096227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EB8017-69E0-469A-A602-45C63B906ADE}"/>
              </a:ext>
            </a:extLst>
          </p:cNvPr>
          <p:cNvSpPr txBox="1"/>
          <p:nvPr/>
        </p:nvSpPr>
        <p:spPr>
          <a:xfrm>
            <a:off x="6791325" y="317375"/>
            <a:ext cx="48237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omic Sans MS" panose="030F0702030302020204" pitchFamily="66" charset="0"/>
              </a:rPr>
              <a:t>Будущее проекта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D21EA49-CA93-4F09-9EA9-548FD11CC5DB}"/>
              </a:ext>
            </a:extLst>
          </p:cNvPr>
          <p:cNvSpPr/>
          <p:nvPr/>
        </p:nvSpPr>
        <p:spPr>
          <a:xfrm flipH="1">
            <a:off x="1056892" y="2464335"/>
            <a:ext cx="2133981" cy="1323439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ECB81-547E-4549-BEF7-1F090613F8CF}"/>
              </a:ext>
            </a:extLst>
          </p:cNvPr>
          <p:cNvSpPr txBox="1"/>
          <p:nvPr/>
        </p:nvSpPr>
        <p:spPr>
          <a:xfrm>
            <a:off x="1056892" y="2464335"/>
            <a:ext cx="2133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1 год: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Создание инженерного прототипа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7894901-B6F1-421D-984E-6C60CF3B854F}"/>
              </a:ext>
            </a:extLst>
          </p:cNvPr>
          <p:cNvSpPr/>
          <p:nvPr/>
        </p:nvSpPr>
        <p:spPr>
          <a:xfrm flipH="1">
            <a:off x="4756279" y="2464335"/>
            <a:ext cx="2005445" cy="1323438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7C41B-1E50-4E12-81DB-6BDDE2D6667E}"/>
              </a:ext>
            </a:extLst>
          </p:cNvPr>
          <p:cNvSpPr txBox="1"/>
          <p:nvPr/>
        </p:nvSpPr>
        <p:spPr>
          <a:xfrm>
            <a:off x="4756281" y="2464335"/>
            <a:ext cx="20054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2 год: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Первое коммерческое внедрение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E24829A-01EE-4564-AE4E-0965C43558E3}"/>
              </a:ext>
            </a:extLst>
          </p:cNvPr>
          <p:cNvSpPr/>
          <p:nvPr/>
        </p:nvSpPr>
        <p:spPr>
          <a:xfrm flipH="1">
            <a:off x="8327129" y="2688319"/>
            <a:ext cx="1910984" cy="1015663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32B796-F683-4B24-B0A1-CED5CD37FDF9}"/>
              </a:ext>
            </a:extLst>
          </p:cNvPr>
          <p:cNvSpPr txBox="1"/>
          <p:nvPr/>
        </p:nvSpPr>
        <p:spPr>
          <a:xfrm>
            <a:off x="8327130" y="2688319"/>
            <a:ext cx="1910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3 год:</a:t>
            </a: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Серийное производство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64ACBDF-122F-4B6F-98E1-C6AE51C54014}"/>
              </a:ext>
            </a:extLst>
          </p:cNvPr>
          <p:cNvSpPr/>
          <p:nvPr/>
        </p:nvSpPr>
        <p:spPr>
          <a:xfrm flipH="1">
            <a:off x="4773621" y="4553719"/>
            <a:ext cx="1819654" cy="1025556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6AC584-2859-494D-8225-E25FDC476ED0}"/>
              </a:ext>
            </a:extLst>
          </p:cNvPr>
          <p:cNvSpPr txBox="1"/>
          <p:nvPr/>
        </p:nvSpPr>
        <p:spPr>
          <a:xfrm>
            <a:off x="4694238" y="4563612"/>
            <a:ext cx="1959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4-</a:t>
            </a:r>
            <a:r>
              <a:rPr lang="ru-RU" sz="2000" b="1" i="0" dirty="0">
                <a:effectLst/>
                <a:latin typeface="Comic Sans MS" panose="030F0702030302020204" pitchFamily="66" charset="0"/>
              </a:rPr>
              <a:t>∞</a:t>
            </a:r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Основа </a:t>
            </a:r>
            <a:r>
              <a:rPr lang="en-US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DMS</a:t>
            </a:r>
            <a:r>
              <a:rPr lang="ru-RU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России</a:t>
            </a:r>
          </a:p>
        </p:txBody>
      </p:sp>
    </p:spTree>
    <p:extLst>
      <p:ext uri="{BB962C8B-B14F-4D97-AF65-F5344CB8AC3E}">
        <p14:creationId xmlns:p14="http://schemas.microsoft.com/office/powerpoint/2010/main" val="354299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5016" y="2532253"/>
            <a:ext cx="6056376" cy="1325563"/>
          </a:xfrm>
        </p:spPr>
        <p:txBody>
          <a:bodyPr/>
          <a:lstStyle/>
          <a:p>
            <a:r>
              <a:rPr lang="ru-RU" dirty="0">
                <a:latin typeface="Comic Sans MS" panose="030F0702030302020204" pitchFamily="66" charset="0"/>
              </a:rPr>
              <a:t>Спасибо за внимание</a:t>
            </a:r>
            <a:r>
              <a:rPr lang="en-US" dirty="0">
                <a:latin typeface="Comic Sans MS" panose="030F0702030302020204" pitchFamily="66" charset="0"/>
              </a:rPr>
              <a:t>!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71A64-75A4-4057-9510-37C27B750876}"/>
              </a:ext>
            </a:extLst>
          </p:cNvPr>
          <p:cNvSpPr txBox="1"/>
          <p:nvPr/>
        </p:nvSpPr>
        <p:spPr>
          <a:xfrm>
            <a:off x="93945" y="6290374"/>
            <a:ext cx="1835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66958-E859-4BB8-88A7-07618815941D}"/>
              </a:ext>
            </a:extLst>
          </p:cNvPr>
          <p:cNvSpPr txBox="1"/>
          <p:nvPr/>
        </p:nvSpPr>
        <p:spPr>
          <a:xfrm>
            <a:off x="10607186" y="6290374"/>
            <a:ext cx="129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</a:t>
            </a:r>
          </a:p>
        </p:txBody>
      </p:sp>
      <p:pic>
        <p:nvPicPr>
          <p:cNvPr id="7" name="Picture 4" descr="a black and white cat laying down on a white surface">
            <a:extLst>
              <a:ext uri="{FF2B5EF4-FFF2-40B4-BE49-F238E27FC236}">
                <a16:creationId xmlns:a16="http://schemas.microsoft.com/office/drawing/2014/main" id="{AEE12774-DDEB-4272-BF6C-5A37861971A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58799"/>
            <a:ext cx="60960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113F20-2A00-4535-8F37-EEB4A88D1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2" y="4798733"/>
            <a:ext cx="1491641" cy="149164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AE7F7FD-DAF3-4DF4-98B5-7E380207B5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51" y="4798732"/>
            <a:ext cx="1491641" cy="1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600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816</Words>
  <Application>Microsoft Office PowerPoint</Application>
  <PresentationFormat>Широкоэкранный</PresentationFormat>
  <Paragraphs>154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Sans Serif Collection</vt:lpstr>
      <vt:lpstr>Times New Roman</vt:lpstr>
      <vt:lpstr>Тема Office</vt:lpstr>
      <vt:lpstr>Eye-Tracker</vt:lpstr>
      <vt:lpstr>Проблема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Eye-tracker</dc:title>
  <dc:creator>student</dc:creator>
  <cp:lastModifiedBy>Dar</cp:lastModifiedBy>
  <cp:revision>42</cp:revision>
  <dcterms:created xsi:type="dcterms:W3CDTF">2026-03-21T05:46:30Z</dcterms:created>
  <dcterms:modified xsi:type="dcterms:W3CDTF">2026-05-01T17:02:02Z</dcterms:modified>
</cp:coreProperties>
</file>